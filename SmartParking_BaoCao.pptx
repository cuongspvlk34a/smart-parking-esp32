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916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PARKING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320040" y="25146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200" kern="0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 v3.2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1371600" y="3200400"/>
            <a:ext cx="6400800" cy="3657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33375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  |  WiFi Dashboard  |  Telegram  |  Tính Phí  |  Emergency Mode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44805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đồ án môn học  •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MỤC LỤC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515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24128" y="1188720"/>
            <a:ext cx="27432" cy="3200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0515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&amp; Mục tiêu đề tài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41148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80136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24128" y="1938528"/>
            <a:ext cx="27432" cy="3200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80136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 kiện phần cứng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41148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255117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24128" y="2688336"/>
            <a:ext cx="27432" cy="3200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55117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kết nối phần cứng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41148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30098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4128" y="3438144"/>
            <a:ext cx="27432" cy="320040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30098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phần mềm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50792"/>
            <a:ext cx="41148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405079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24128" y="4187952"/>
            <a:ext cx="27432" cy="320040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05079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hoạt động chính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051560"/>
            <a:ext cx="41148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0328" y="10515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67528" y="1188720"/>
            <a:ext cx="27432" cy="320040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58968" y="10515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phí tự động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1801368"/>
            <a:ext cx="41148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10328" y="180136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67528" y="1938528"/>
            <a:ext cx="27432" cy="32004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58968" y="180136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Mode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2551176"/>
            <a:ext cx="41148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10328" y="255117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A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67528" y="2688336"/>
            <a:ext cx="27432" cy="320040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58968" y="255117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&amp; Telegram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00600" y="3300984"/>
            <a:ext cx="41148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10328" y="330098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367528" y="3438144"/>
            <a:ext cx="27432" cy="3200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58968" y="330098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thực tế &amp; Demo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00600" y="4050792"/>
            <a:ext cx="411480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10328" y="405079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67528" y="4187952"/>
            <a:ext cx="27432" cy="320040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58968" y="405079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GIỚI THIỆU ĐỀ TÀI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0584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51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thực tế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14813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Đô thị hóa nhanh → nhu cầu đỗ xe tăng cao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19385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thủ công gây lãng phí thời gian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231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2960" y="23957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thông tin thực tế về chỗ trống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457200" y="2834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đề xuất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457200" y="3246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bãi đỗ xe thông minh dùng ESP32 — tự động nhận diện xe, tính phí, hiển thị dashboard realtime và gửi cảnh báo Telegram.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MỤC TIÊU ĐỀ TÀI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107899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07899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984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143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8992" y="1508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2 cổng servo tự động, không cần nhân viên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4114800" cy="107899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05840"/>
            <a:ext cx="64008" cy="107899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29844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1143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phí thông minh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22392" y="1508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Miễn phí 15 phút, 2.000đ/30 phút, tối thiểu 3.000đ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240280"/>
            <a:ext cx="4114800" cy="107899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240280"/>
            <a:ext cx="64008" cy="1078992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53288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8992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A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realtime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78992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cập nhật mỗi 2.5 giây trên điện thoại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2240280"/>
            <a:ext cx="4114800" cy="107899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240280"/>
            <a:ext cx="64008" cy="1078992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53288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22392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A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tức thì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22392" y="27432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gửi thông báo xe vào/ra/bãi đầy ngay lập tức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65760" y="3474720"/>
            <a:ext cx="4114800" cy="107899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3474720"/>
            <a:ext cx="64008" cy="1078992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767328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78992" y="3611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khẩn cấp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078992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Mode: 1 nút nhấn → mở thông 2 cổng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709160" y="3474720"/>
            <a:ext cx="4114800" cy="107899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09160" y="3474720"/>
            <a:ext cx="64008" cy="107899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767328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22392" y="3611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lịch sử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422392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8 sự kiện gần nhất, hiển thị trên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LINH KIỆN PHẦN CỨNG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8046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 v1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điều khiển chính, 2 nhân, WiFi tích hợp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64008" cy="8046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789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SG90 ×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26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thanh chắn cổng vào / cổng ra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65960"/>
            <a:ext cx="64008" cy="80467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39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FC-51 × 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3865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hồng ngoại — phát hiện xe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96596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965960"/>
            <a:ext cx="64008" cy="80467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039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16×2 + I2C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3865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trạng thái bãi và phí xe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26080"/>
            <a:ext cx="64008" cy="80467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992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thụ động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âm thanh cảnh báo không blocking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92608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26080"/>
            <a:ext cx="64008" cy="804672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9992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nhấn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hoạt Emergency Mode (GPIO 13)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88620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86200"/>
            <a:ext cx="64008" cy="80467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59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5V ≥ 2A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nguồn ESP32 + 2 servo đồng thời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88620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886200"/>
            <a:ext cx="64008" cy="80467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959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+ dây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Lắp ráp và kết nối linh kiện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SƠ ĐỒ KẾT NỐI GPIO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1371600"/>
            <a:ext cx="2560320" cy="26517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0" y="1371600"/>
            <a:ext cx="2560320" cy="3840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371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92024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417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VÀO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74520" y="1563624"/>
            <a:ext cx="1417320" cy="0"/>
          </a:xfrm>
          <a:prstGeom prst="line">
            <a:avLst/>
          </a:prstGeom>
          <a:noFill/>
          <a:ln w="19050">
            <a:solidFill>
              <a:srgbClr val="FF6B00"/>
            </a:solidFill>
            <a:prstDash val="sysDot"/>
          </a:ln>
        </p:spPr>
      </p:sp>
      <p:sp>
        <p:nvSpPr>
          <p:cNvPr id="10" name="Text 7"/>
          <p:cNvSpPr/>
          <p:nvPr/>
        </p:nvSpPr>
        <p:spPr>
          <a:xfrm>
            <a:off x="1828800" y="1417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18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" y="18562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RA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74520" y="2002536"/>
            <a:ext cx="1417320" cy="0"/>
          </a:xfrm>
          <a:prstGeom prst="line">
            <a:avLst/>
          </a:prstGeom>
          <a:noFill/>
          <a:ln w="19050">
            <a:solidFill>
              <a:srgbClr val="FF6B00"/>
            </a:solidFill>
            <a:prstDash val="sysDot"/>
          </a:ln>
        </p:spPr>
      </p:sp>
      <p:sp>
        <p:nvSpPr>
          <p:cNvPr id="13" name="Text 10"/>
          <p:cNvSpPr/>
          <p:nvPr/>
        </p:nvSpPr>
        <p:spPr>
          <a:xfrm>
            <a:off x="1828800" y="1856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19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4320" y="2295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Vào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874520" y="2441448"/>
            <a:ext cx="1417320" cy="0"/>
          </a:xfrm>
          <a:prstGeom prst="line">
            <a:avLst/>
          </a:prstGeom>
          <a:noFill/>
          <a:ln w="19050">
            <a:solidFill>
              <a:srgbClr val="00FFB2"/>
            </a:solidFill>
            <a:prstDash val="sysDot"/>
          </a:ln>
        </p:spPr>
      </p:sp>
      <p:sp>
        <p:nvSpPr>
          <p:cNvPr id="16" name="Text 13"/>
          <p:cNvSpPr/>
          <p:nvPr/>
        </p:nvSpPr>
        <p:spPr>
          <a:xfrm>
            <a:off x="1828800" y="22951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32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4320" y="27340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Ra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874520" y="2880360"/>
            <a:ext cx="1417320" cy="0"/>
          </a:xfrm>
          <a:prstGeom prst="line">
            <a:avLst/>
          </a:prstGeom>
          <a:noFill/>
          <a:ln w="19050">
            <a:solidFill>
              <a:srgbClr val="00FFB2"/>
            </a:solidFill>
            <a:prstDash val="sysDot"/>
          </a:ln>
        </p:spPr>
      </p:sp>
      <p:sp>
        <p:nvSpPr>
          <p:cNvPr id="19" name="Text 16"/>
          <p:cNvSpPr/>
          <p:nvPr/>
        </p:nvSpPr>
        <p:spPr>
          <a:xfrm>
            <a:off x="1828800" y="2734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 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74320" y="31729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Slot 1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874520" y="3319272"/>
            <a:ext cx="1417320" cy="0"/>
          </a:xfrm>
          <a:prstGeom prst="line">
            <a:avLst/>
          </a:prstGeom>
          <a:noFill/>
          <a:ln w="19050">
            <a:solidFill>
              <a:srgbClr val="00FFB2"/>
            </a:solidFill>
            <a:prstDash val="sysDot"/>
          </a:ln>
        </p:spPr>
      </p:sp>
      <p:sp>
        <p:nvSpPr>
          <p:cNvPr id="22" name="Text 19"/>
          <p:cNvSpPr/>
          <p:nvPr/>
        </p:nvSpPr>
        <p:spPr>
          <a:xfrm>
            <a:off x="1828800" y="31729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74320" y="3611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Slot 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874520" y="3758184"/>
            <a:ext cx="1417320" cy="0"/>
          </a:xfrm>
          <a:prstGeom prst="line">
            <a:avLst/>
          </a:prstGeom>
          <a:noFill/>
          <a:ln w="19050">
            <a:solidFill>
              <a:srgbClr val="00FFB2"/>
            </a:solidFill>
            <a:prstDash val="sysDot"/>
          </a:ln>
        </p:spPr>
      </p:sp>
      <p:sp>
        <p:nvSpPr>
          <p:cNvPr id="25" name="Text 22"/>
          <p:cNvSpPr/>
          <p:nvPr/>
        </p:nvSpPr>
        <p:spPr>
          <a:xfrm>
            <a:off x="1828800" y="36118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27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852160" y="1417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15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52160" y="1563624"/>
            <a:ext cx="1188720" cy="0"/>
          </a:xfrm>
          <a:prstGeom prst="line">
            <a:avLst/>
          </a:prstGeom>
          <a:noFill/>
          <a:ln w="19050">
            <a:solidFill>
              <a:srgbClr val="A0A0A0"/>
            </a:solidFill>
            <a:prstDash val="sysDot"/>
          </a:ln>
        </p:spPr>
      </p:sp>
      <p:sp>
        <p:nvSpPr>
          <p:cNvPr id="28" name="Text 25"/>
          <p:cNvSpPr/>
          <p:nvPr/>
        </p:nvSpPr>
        <p:spPr>
          <a:xfrm>
            <a:off x="7086600" y="1417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852160" y="20391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21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852160" y="2185416"/>
            <a:ext cx="1188720" cy="0"/>
          </a:xfrm>
          <a:prstGeom prst="line">
            <a:avLst/>
          </a:prstGeom>
          <a:noFill/>
          <a:ln w="19050">
            <a:solidFill>
              <a:srgbClr val="2CA5E0"/>
            </a:solidFill>
            <a:prstDash val="sysDot"/>
          </a:ln>
        </p:spPr>
      </p:sp>
      <p:sp>
        <p:nvSpPr>
          <p:cNvPr id="31" name="Text 28"/>
          <p:cNvSpPr/>
          <p:nvPr/>
        </p:nvSpPr>
        <p:spPr>
          <a:xfrm>
            <a:off x="7086600" y="20391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A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SDA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852160" y="26609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22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852160" y="2807208"/>
            <a:ext cx="1188720" cy="0"/>
          </a:xfrm>
          <a:prstGeom prst="line">
            <a:avLst/>
          </a:prstGeom>
          <a:noFill/>
          <a:ln w="19050">
            <a:solidFill>
              <a:srgbClr val="2CA5E0"/>
            </a:solidFill>
            <a:prstDash val="sysDot"/>
          </a:ln>
        </p:spPr>
      </p:sp>
      <p:sp>
        <p:nvSpPr>
          <p:cNvPr id="34" name="Text 31"/>
          <p:cNvSpPr/>
          <p:nvPr/>
        </p:nvSpPr>
        <p:spPr>
          <a:xfrm>
            <a:off x="7086600" y="26609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A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SCL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852160" y="32826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 13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852160" y="3429000"/>
            <a:ext cx="1188720" cy="0"/>
          </a:xfrm>
          <a:prstGeom prst="line">
            <a:avLst/>
          </a:prstGeom>
          <a:noFill/>
          <a:ln w="19050">
            <a:solidFill>
              <a:srgbClr val="FF3B3B"/>
            </a:solidFill>
            <a:prstDash val="sysDot"/>
          </a:ln>
        </p:spPr>
      </p:sp>
      <p:sp>
        <p:nvSpPr>
          <p:cNvPr id="37" name="Text 34"/>
          <p:cNvSpPr/>
          <p:nvPr/>
        </p:nvSpPr>
        <p:spPr>
          <a:xfrm>
            <a:off x="7086600" y="3282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BỐ CỤC VẬT LÝ BÃI ĐỖ XE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141414"/>
          </a:solidFill>
          <a:ln w="254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BÃI ĐỖ XE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292608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783080"/>
            <a:ext cx="91440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160020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IR S1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03520" y="1554480"/>
            <a:ext cx="292608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91440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2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394960" y="160020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94960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IR S2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371600" y="3383280"/>
            <a:ext cx="1828800" cy="548640"/>
          </a:xfrm>
          <a:prstGeom prst="rect">
            <a:avLst/>
          </a:prstGeom>
          <a:solidFill>
            <a:srgbClr val="1A2E1A"/>
          </a:solidFill>
          <a:ln w="19050">
            <a:solidFill>
              <a:srgbClr val="00FFB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37160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B2"/>
                </a:solidFill>
              </a:rPr>
              <a:t>CỔNG VÀO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FFB2"/>
                </a:solidFill>
              </a:rPr>
              <a:t>GPIO 18+32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43600" y="3383280"/>
            <a:ext cx="1828800" cy="548640"/>
          </a:xfrm>
          <a:prstGeom prst="rect">
            <a:avLst/>
          </a:prstGeom>
          <a:solidFill>
            <a:srgbClr val="2E1A1A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CỔNG 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GPIO 19+4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566160" y="3337560"/>
            <a:ext cx="2011680" cy="594360"/>
          </a:xfrm>
          <a:prstGeom prst="rect">
            <a:avLst/>
          </a:prstGeom>
          <a:solidFill>
            <a:srgbClr val="1A1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3566160" y="3337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A5E0"/>
                </a:solidFill>
              </a:rPr>
              <a:t>LCD + ESP32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A5E0"/>
                </a:solidFill>
              </a:rPr>
              <a:t>GPIO 21/22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KIẾN TRÚC PHẦN MỀM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0D1A0D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1  —  LOOP() CHÍNH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updateEmergency()  ← ưu tiên #1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updateSlots()      ← IR slot debounce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updateGate(In/Out) ← state machine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169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debounceRead()     ← IR cổng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01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updateBuzzer()     ← non-blocking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refreshLCD()       ← non-blocking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1783080"/>
          </a:xfrm>
          <a:prstGeom prst="rect">
            <a:avLst/>
          </a:prstGeom>
          <a:solidFill>
            <a:srgbClr val="1A0D0D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0  —  TELEGRAM TASK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FreeRTOS Task — poll 300ms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8653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WiFiClientSecure HTTPS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267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Mutex bảo vệ tgMsg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0D0D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4023360" cy="347472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9260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SERVER  —  ASYNC PORT 80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383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        → Dashboard HTML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7856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/api/status → JSON realtime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LUỒNG ĐIỀU KHIỂN CỔNG (STATE MACHINE)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9456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1E1E1E"/>
          </a:solidFill>
          <a:ln w="254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219456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1E1E1E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219456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1E1E1E"/>
          </a:solidFill>
          <a:ln w="25400">
            <a:solidFill>
              <a:srgbClr val="FF8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19456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1E1E1E"/>
          </a:solidFill>
          <a:ln w="25400">
            <a:solidFill>
              <a:srgbClr val="00FF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365760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1E1E1E"/>
          </a:solidFill>
          <a:ln w="25400">
            <a:solidFill>
              <a:srgbClr val="2CA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A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2514600"/>
            <a:ext cx="18288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2514600"/>
            <a:ext cx="182880" cy="0"/>
          </a:xfrm>
          <a:prstGeom prst="line">
            <a:avLst/>
          </a:prstGeom>
          <a:noFill/>
          <a:ln w="25400">
            <a:solidFill>
              <a:srgbClr val="FF8C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2514600"/>
            <a:ext cx="182880" cy="0"/>
          </a:xfrm>
          <a:prstGeom prst="line">
            <a:avLst/>
          </a:prstGeom>
          <a:noFill/>
          <a:ln w="25400">
            <a:solidFill>
              <a:srgbClr val="00FF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834640"/>
            <a:ext cx="0" cy="822960"/>
          </a:xfrm>
          <a:prstGeom prst="line">
            <a:avLst/>
          </a:prstGeom>
          <a:noFill/>
          <a:ln w="25400">
            <a:solidFill>
              <a:srgbClr val="00FF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3657600"/>
            <a:ext cx="1874520" cy="0"/>
          </a:xfrm>
          <a:prstGeom prst="line">
            <a:avLst/>
          </a:prstGeom>
          <a:noFill/>
          <a:ln w="25400">
            <a:solidFill>
              <a:srgbClr val="2CA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2834640"/>
            <a:ext cx="0" cy="1188720"/>
          </a:xfrm>
          <a:prstGeom prst="line">
            <a:avLst/>
          </a:prstGeom>
          <a:noFill/>
          <a:ln w="19050">
            <a:solidFill>
              <a:srgbClr val="3A3A3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280160" y="4023360"/>
            <a:ext cx="374904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029200" y="4023360"/>
            <a:ext cx="0" cy="274320"/>
          </a:xfrm>
          <a:prstGeom prst="line">
            <a:avLst/>
          </a:prstGeom>
          <a:noFill/>
          <a:ln w="19050">
            <a:solidFill>
              <a:srgbClr val="3A3A3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16916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phát hiện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còn chỗ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94760" y="16916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800ms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16916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5°/15ms → 90°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29260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qua → 3s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41605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A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5°/15ms → 0°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các bước dùng millis() — không có delay() → loop không bao giờ bị block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LUỒNG XE VÀO &amp; XE 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023360" cy="3749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34747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🚗  XE VÀO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IR cổng vào phát hiện xe (GPIO 32)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Debounce 50ms → xác nhận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Kiểm tra: còn chỗ?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✓ Có → Servo mở cổng vào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072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✗ Không → LCD 'BÃI ĐẦY', Telegram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Xe vào → IR Slot phát hiện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877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Ghi giờ vào, bắt đầu tính phí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279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Telegram: 'Xe vào Slot X'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1005840"/>
            <a:ext cx="4023360" cy="3749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005840"/>
            <a:ext cx="4023360" cy="3474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🚗  XE RA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IR Slot phát hiện chỗ trống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18653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Debounce 50ms → xác nhận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267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Tính phí: dur = now - entrySec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6700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LCD hiển thị phí + thời gian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072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IR cổng ra phát hiện xe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474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Servo mở cổng ra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3877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Telegram: 'Xe ra, phí X đồng'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4279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Cổng tự đóng sau 3 giây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HỆ THỐNG TÍNH PHÍ TỰ ĐỘNG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0D1A0D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789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CÔNG THỨC TÍNH PHÍ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Nếu thời gian ≤ 15 phút  →  MIỄN PHÍ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Nếu thời gian &gt; 15 phút  →  MAX( 3.000đ ,  ⌈(phút − 15) ÷ 30⌉  ×  2.000đ 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9202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60320"/>
            <a:ext cx="1920240" cy="54864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phút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 phút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MIỄN PHÍ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2560320"/>
            <a:ext cx="19202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2560320"/>
            <a:ext cx="192024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phút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032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block × 2.000đ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3.000đ *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19202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560320"/>
            <a:ext cx="192024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 phút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blocks × 2.000đ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4.000đ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2560320"/>
            <a:ext cx="19202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2560320"/>
            <a:ext cx="1920240" cy="54864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giờ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6656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blocks × 2.000đ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12.000đ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Tối thiểu 3.000đ áp dụng khi phí tính ra thấp hơn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XỬ LÝ NHIỄU &amp; DEBOUNCE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đề: Servo quay gần IR slot → sinh nhiễu điện từ → giả mạo sự kiện xe vào/ra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98755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64008" cy="98755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276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7276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Cổng Vào/Ra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9202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50ms trong hàm debounceRead()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lần đọc GPIO so sánh với giá trị trước, chờ ổn định 50ms mới xử lý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8229600" cy="98755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651760"/>
            <a:ext cx="64008" cy="9875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7063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71576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Slot 1 &amp; 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34440" y="30632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riêng trong struct SlotBilling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rawRead + debounceTs — bỏ qua nếu chưa đủ 50ms ổn định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794760"/>
            <a:ext cx="8229600" cy="98755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794760"/>
            <a:ext cx="64008" cy="98755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91363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85876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PWM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34440" y="42062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allocateTimer(0..3) tránh xung đột timer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50Hz, pulse 500–2400µs đúng chuẩn SG90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 EMERGENCY MODE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100584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1A0505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0789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Kết nối: GPIO 13 ──── [NÚT NHẤN] ──── GND   (không cần điện trở, dùng pull-up nội bộ)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920240"/>
            <a:ext cx="4114800" cy="2880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920240"/>
            <a:ext cx="4114800" cy="365760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NHẤN LẦN 1 — BẬT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9572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3591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cả 2 cổng quay lên 90° ngay lập tức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5292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8163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openTime đặt = now + 24h → không tự đóng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31012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3273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logic IR cổng bị bỏ qua (return sớm)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67328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2960" y="37307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nhấp nháy '!!! KHAN CAP !!!' mỗi 600ms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224528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2960" y="41879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Telegram: 'CẢ 2 CỔNG MỞ THÔNG'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4709160" y="1920240"/>
            <a:ext cx="4114800" cy="2880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4709160" y="1920240"/>
            <a:ext cx="4114800" cy="365760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470916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NHẤN LẦN 2 — TẮT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395728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66360" y="23591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cổng chuyển sang state GATE_CLOSING</a:t>
            </a:r>
            <a:endParaRPr lang="en-US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852928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66360" y="28163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đóng từ từ 5°/15ms về 0°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310128"/>
            <a:ext cx="228600" cy="2286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166360" y="3273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trở về hoạt động bình thường</a:t>
            </a:r>
            <a:endParaRPr lang="en-US" sz="11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767328"/>
            <a:ext cx="228600" cy="2286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166360" y="37307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trở về màn hình trạng thái</a:t>
            </a:r>
            <a:endParaRPr lang="en-US" sz="11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4224528"/>
            <a:ext cx="228600" cy="2286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166360" y="41879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Telegram: 'Emergency đã TẮT'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KIẾN TRÚC WIFI — AP + STA DUAL MODE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00584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51560"/>
            <a:ext cx="3931920" cy="1828800"/>
          </a:xfrm>
          <a:prstGeom prst="rect">
            <a:avLst/>
          </a:prstGeom>
          <a:solidFill>
            <a:srgbClr val="0D1A0D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POINT (AP)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SSID: SmartParking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847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Pass: parking123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185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IP:   192.168.4.1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5237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Dashboard luôn bật dù mất internet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1051560"/>
            <a:ext cx="3931920" cy="1828800"/>
          </a:xfrm>
          <a:prstGeom prst="rect">
            <a:avLst/>
          </a:prstGeom>
          <a:solidFill>
            <a:srgbClr val="0D0D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STATION (STA)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Kết nối WiFi nhà / router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0" y="1847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Truy cập internet → Telegram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2185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NTP sync giờ UTC+7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0" y="25237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 millis() nếu mất kết nối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3063240"/>
            <a:ext cx="8412480" cy="804672"/>
          </a:xfrm>
          <a:prstGeom prst="rect">
            <a:avLst/>
          </a:prstGeom>
          <a:solidFill>
            <a:srgbClr val="1A1A05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48640" y="312724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Cùng 1 radio nhưng 2 interface độc lập — AP mất điện thì STA cũng mất, nhưng STA mất internet thì AP vẫn phục vụ dashboard bình thường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3977640"/>
            <a:ext cx="841248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8640" y="404164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 flow: sendTelegram() → mutex lock → tgReady=true → telegramTask() Core 0 → WiFiClientSecure HTTPS → api.telegram.org:443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DASHBOARD REALTIME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86868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51560"/>
            <a:ext cx="5303520" cy="3749040"/>
          </a:xfrm>
          <a:prstGeom prst="rect">
            <a:avLst/>
          </a:prstGeom>
          <a:solidFill>
            <a:srgbClr val="050505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51560"/>
            <a:ext cx="53035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789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PARKING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0" y="11155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2286000" cy="80467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Trong bãi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017520" y="1600200"/>
            <a:ext cx="2286000" cy="80467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01752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Trạng thái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0175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 CHỖ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57200" y="2514600"/>
            <a:ext cx="2286000" cy="914400"/>
          </a:xfrm>
          <a:prstGeom prst="rect">
            <a:avLst/>
          </a:prstGeom>
          <a:solidFill>
            <a:srgbClr val="1E1E1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01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2834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 XE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31455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Phí: 4,000d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017520" y="2514600"/>
            <a:ext cx="2286000" cy="914400"/>
          </a:xfrm>
          <a:prstGeom prst="rect">
            <a:avLst/>
          </a:prstGeom>
          <a:solidFill>
            <a:srgbClr val="1E1E1E"/>
          </a:solidFill>
          <a:ln w="19050">
            <a:solidFill>
              <a:srgbClr val="00FF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17520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02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017520" y="2834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TRỐNG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017520" y="31455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SỰ KIỆN GẦN ĐÂY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384048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B2"/>
                </a:solidFill>
              </a:rPr>
              <a:t>●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58368" y="38404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463040" y="38404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vao S1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409651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●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58368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08:55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463040" y="40965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ra S2 | 4,000d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435254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A5E0"/>
                </a:solidFill>
              </a:rPr>
              <a:t>●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58368" y="43525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08:00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463040" y="43525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thong khoi dong</a:t>
            </a:r>
            <a:endParaRPr lang="en-US" sz="10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097280"/>
            <a:ext cx="384048" cy="38404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400800" y="1078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điện thoại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6400800" y="1417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SmartParking → http://192.168.4.1</a:t>
            </a:r>
            <a:endParaRPr lang="en-US" sz="11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103120"/>
            <a:ext cx="384048" cy="38404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400800" y="2084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cập nhật 2.5s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6400800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fetch('/api/status') định kỳ, không cần refresh</a:t>
            </a:r>
            <a:endParaRPr lang="en-US" sz="11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108960"/>
            <a:ext cx="384048" cy="38404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400800" y="3090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 chạy realtime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6400800" y="3429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runningFee tăng theo giây khi xe đang đậu</a:t>
            </a:r>
            <a:endParaRPr lang="en-US" sz="11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4114800"/>
            <a:ext cx="384048" cy="38404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400800" y="4096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8 sự kiện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640080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buffer, hiển thị theo thứ tự thời gian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A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 BOT — THÔNG BÁO REALTIME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86868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51560"/>
            <a:ext cx="4114800" cy="1874520"/>
          </a:xfrm>
          <a:prstGeom prst="rect">
            <a:avLst/>
          </a:prstGeom>
          <a:solidFill>
            <a:srgbClr val="0A1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51560"/>
            <a:ext cx="4114800" cy="34747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 Vào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[SMART PARKING]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7922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 vao: Slot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1214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Gio: 08:31:00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450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Bai: 1/2 cho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4114800" cy="1874520"/>
          </a:xfrm>
          <a:prstGeom prst="rect">
            <a:avLst/>
          </a:prstGeom>
          <a:solidFill>
            <a:srgbClr val="0A1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 Ra + Phí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3776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[SMART PARKING]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17922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 ra: Slot 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21214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Thoi gian: 1h14m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37760" y="2450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Phi: 4,000d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37760" y="27797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Gio: 09:45:00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3154680"/>
            <a:ext cx="4114800" cy="1874520"/>
          </a:xfrm>
          <a:prstGeom prst="rect">
            <a:avLst/>
          </a:prstGeom>
          <a:solidFill>
            <a:srgbClr val="0A1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3154680"/>
            <a:ext cx="4114800" cy="347472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3154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Bãi Đầy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3566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[SMART PARKING]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3895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BAI DAY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4224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 choi xe vao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4553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Gio: 10:00:00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54880" y="3154680"/>
            <a:ext cx="4114800" cy="1874520"/>
          </a:xfrm>
          <a:prstGeom prst="rect">
            <a:avLst/>
          </a:prstGeom>
          <a:solidFill>
            <a:srgbClr val="0A1A0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3154680"/>
            <a:ext cx="4114800" cy="347472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3154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Emergency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937760" y="3566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[SMART PARKING]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37760" y="3895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!!! KHAN CAP !!!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937760" y="4224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 2 CONG MO THONG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937760" y="4553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 ra vao tu do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THƯ VIỆN &amp; CÔNG NGHỆ SỬ DỤNG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8046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ESP32Servo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servo SG90 với PWM timer riêng, tránh xung đột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64008" cy="8046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789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LiquidCrystal I2C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26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LCD 16×2 qua I2C (SDA/SCL) — chỉ dùng 2 GPIO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65960"/>
            <a:ext cx="64008" cy="80467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39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ESPAsyncWebServer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3865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bất đồng bộ — phục vụ HTTP không block loop()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96596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965960"/>
            <a:ext cx="64008" cy="80467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039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AsyncTCP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3865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layer cho ESPAsyncWebServer — bắt buộc cài kèm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26080"/>
            <a:ext cx="64008" cy="804672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992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WiFiClientSecure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kết nối api.telegram.org:443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92608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26080"/>
            <a:ext cx="64008" cy="804672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9992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FreeRTOS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telegramTask trên Core 0, mutex bảo vệ shared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88620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86200"/>
            <a:ext cx="64008" cy="80467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59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NTP / time.h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thời gian thực UTC+7 từ pool.ntp.org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886200"/>
            <a:ext cx="416052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886200"/>
            <a:ext cx="64008" cy="80467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959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PptxGenJS (báo cáo)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file PowerPoint này bằng Node.js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HƯỚNG DẪN CÀI ĐẶT &amp; DEPLOY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86868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024128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24128"/>
            <a:ext cx="502920" cy="11704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24128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41832" y="1115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Arduino IDE 2.x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41832" y="14630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arduino.cc → tải IDE → cài board ESP32 by Espressif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Board → ESP32 Dev Module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024128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24128"/>
            <a:ext cx="502920" cy="11704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024128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330952" y="1115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thư viện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30952" y="14630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Manager: ESP32Servo + LiquidCrystal I2C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ZIP: ESPAsyncWebServer + AsyncTCP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2350008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350008"/>
            <a:ext cx="502920" cy="117043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350008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41832" y="24414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CONFIG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41832" y="27889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#define WIFI_SSID, WIFI_PASS, BOT_TOKEN, CHAT_ID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dòng đầu file — chỉnh trước khi nạp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2350008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2350008"/>
            <a:ext cx="502920" cy="117043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9160" y="2350008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330952" y="24414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code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30952" y="27889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Cắm USB → chọn đúng Port → nhấn Upload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Serial Monitor 115200 baud để kiểm tra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3675888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" y="3675888"/>
            <a:ext cx="502920" cy="1170432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3675888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41832" y="37673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Dashboard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41832" y="41148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 → WiFi SmartParking → browser 192.168.4.1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refresh mỗi 2.5 giây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09160" y="3675888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09160" y="3675888"/>
            <a:ext cx="502920" cy="1170432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9160" y="3675888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330952" y="37673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Telegram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330952" y="41148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@BotFather → /newbot → lấy 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@userinfobot → lấy CHAT_ID → nhắn 1 tin cho bot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KIỂM TRA &amp; XỬ LÝ LỖI THƯỜNG GẶP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1170432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Upload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tra: chọn đúng Board 'ESP32 Dev Module' và đúng Port 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giữ nút BOOT trên ESP32 khi bắt đầu upload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64008" cy="11704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không sáng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447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địa chỉ I2C: 0x27 hoặc 0x3F (sửa trong code)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nguồn 5V cho LCD, SDA/SCL đúng GPIO 21/22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31720"/>
            <a:ext cx="64008" cy="11704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không quay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770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cần 5V — kiểm tra nguồn VIN không phải 3.3V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allocateTimer(0..3) phải có trước khi attach()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331720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331720"/>
            <a:ext cx="64008" cy="1170432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không gửi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770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BOT_TOKEN và CHAT_ID đúng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nhắn tin cho bot trước khi deploy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57600"/>
            <a:ext cx="64008" cy="1170432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trắng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0965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F12 → Console xem lỗi 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kết nối WiFi SmartParking, IP 192.168.4.1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57600"/>
            <a:ext cx="64008" cy="117043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vào/ra liên tục giả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0965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bị nhiễu từ servo → debounce đã xử lý trong v3.2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khoảng cách IR với vật cản ngoài ý muốn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KẾT QUẢ THỰC TẾ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97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mở/đóng mượt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4630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0°→90° theo 18 bước × 5° mỗi 15ms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giật, không block loop chính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hoạt động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94960" y="14630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sự kiện giả khi servo đang quay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GPIO ổn định sau 50ms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331720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5176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phí chính xác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05840" y="2788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nghiệm 4 mốc: miễn phí / 3K / 4K / 12K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khớp 100% với công thức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2331720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5176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realtime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94960" y="2788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 cập nhật liên tục mỗi 2.5s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reload trang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3657600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77640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37490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gửi ổn định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05840" y="4114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0 xử lý HTTPS riêng — loop không bị delay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được cả ký tự tiếng Việt (URL encode RFC 3986)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09160" y="3657600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977640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94960" y="37490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hoạt động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394960" y="4114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cổng mở ngay lập tức khi nhấn nút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lần 2 đóng lại mượt mà qua state machine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KẾT LUẬN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1234440"/>
          </a:xfrm>
          <a:prstGeom prst="rect">
            <a:avLst/>
          </a:prstGeom>
          <a:solidFill>
            <a:srgbClr val="0D1A0D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78992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đã xây dựng thành công hệ thống bãi đỗ xe thông minh hoàn chỉnh trên nền tảng ESP32, tích hợp đầy đủ: điều khiển cổng tự động, tính phí, giám sát realtime, cảnh báo Telegram và chế độ khẩn cấp.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591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hoàn toàn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54680" y="233172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nhân viên, servo state machine không block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5292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8254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tính năng tích hợp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154680" y="282549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Dashboard + Telegram + Billing + Emergency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467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33192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non-blocking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154680" y="33192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millis() thay delay(), FreeRTOS dual-core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3813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nhiễu tốt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154680" y="381304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50ms cho cả 4 IR sensors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3425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2960" y="43068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cấu hình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154680" y="430682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4 dòng #define là sẵn sàng deploy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HƯỚNG PHÁT TRIỂN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86868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024128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24128"/>
            <a:ext cx="64008" cy="11704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344168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8408" y="1115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dạng biển số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78408" y="14813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AI nhận dạng biển số xe tự động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IR cổng, liên kết với database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1024128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9160" y="1024128"/>
            <a:ext cx="64008" cy="117043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34416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7528" y="1115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điện tử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67528" y="14813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QR code, ví điện tử MoMo/ZaloPay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 hệ thống thu phí thủ công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0040" y="2350008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20040" y="2350008"/>
            <a:ext cx="64008" cy="11704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670048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78408" y="24414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đa bãi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78408" y="28072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dữ liệu lên Firebase/MQTT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nhiều bãi từ 1 dashboard trung tâm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709160" y="2350008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09160" y="2350008"/>
            <a:ext cx="64008" cy="1170432"/>
          </a:xfrm>
          <a:prstGeom prst="rect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670048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67528" y="24414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khói &amp; nhiệt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367528" y="28072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MQ-2 / DHT22 phát hiện cháy sớm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kích hoạt Emergency Mode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20040" y="3675888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20040" y="3675888"/>
            <a:ext cx="64008" cy="117043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995928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78408" y="37673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dữ liệu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978408" y="41330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doanh thu, tần suất sử dụng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giờ cao điểm bằng ML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709160" y="3675888"/>
            <a:ext cx="416052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709160" y="3675888"/>
            <a:ext cx="64008" cy="117043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995928"/>
            <a:ext cx="402336" cy="40233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67528" y="37673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số slot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367528" y="41330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&gt; 2 slot, màn hình LED ngoài trời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chỉ đường vào chỗ trống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64008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5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XIN CẢM ƠN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3310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THẦY GIÁO &amp; CÁC BẠN ĐÃ LẮNG NGHE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3886200"/>
            <a:ext cx="4572000" cy="3657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023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FF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Parking System v3.2  |  ESP32  |  2025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github.com/SmartParkingNVC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System v3.2</dc:title>
  <dc:subject>PptxGenJS Presentation</dc:subject>
  <dc:creator>Nguyễn Văn Cường</dc:creator>
  <cp:lastModifiedBy>Nguyễn Văn Cường</cp:lastModifiedBy>
  <cp:revision>1</cp:revision>
  <dcterms:created xsi:type="dcterms:W3CDTF">2026-03-27T00:42:17Z</dcterms:created>
  <dcterms:modified xsi:type="dcterms:W3CDTF">2026-03-27T00:42:17Z</dcterms:modified>
</cp:coreProperties>
</file>